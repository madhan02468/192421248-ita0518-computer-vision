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Required Bandwidth</c:v>
                </c:pt>
              </c:strCache>
            </c:strRef>
          </c:tx>
          <c:spPr>
            <a:solidFill>
              <a:srgbClr val="008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VGA
30fps</c:v>
                  </c:pt>
                  <c:pt idx="1">
                    <c:v>720p
30fps</c:v>
                  </c:pt>
                  <c:pt idx="2">
                    <c:v>1080p
30fps</c:v>
                  </c:pt>
                  <c:pt idx="3">
                    <c:v>1080p
60fps</c:v>
                  </c:pt>
                  <c:pt idx="4">
                    <c:v>4K
30fps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</c:v>
                </c:pt>
                <c:pt idx="1">
                  <c:v>663</c:v>
                </c:pt>
                <c:pt idx="2">
                  <c:v>1493</c:v>
                </c:pt>
                <c:pt idx="3">
                  <c:v>2986</c:v>
                </c:pt>
                <c:pt idx="4">
                  <c:v>5972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A6B7B"/>
                    </a:solidFill>
                    <a:latin typeface="Arial"/>
                  </a:rPr>
                  <a:t>Mbit / 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12700">
            <a:solidFill>
              <a:srgbClr val="172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12188952" cy="0"/>
          </a:xfrm>
          <a:prstGeom prst="line">
            <a:avLst/>
          </a:prstGeom>
          <a:noFill/>
          <a:ln w="12700">
            <a:solidFill>
              <a:srgbClr val="172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12700">
            <a:solidFill>
              <a:srgbClr val="172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94760"/>
            <a:ext cx="12188952" cy="0"/>
          </a:xfrm>
          <a:prstGeom prst="line">
            <a:avLst/>
          </a:prstGeom>
          <a:noFill/>
          <a:ln w="12700">
            <a:solidFill>
              <a:srgbClr val="172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12188952" cy="0"/>
          </a:xfrm>
          <a:prstGeom prst="line">
            <a:avLst/>
          </a:prstGeom>
          <a:noFill/>
          <a:ln w="12700">
            <a:solidFill>
              <a:srgbClr val="172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12700">
            <a:solidFill>
              <a:srgbClr val="172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VISION SYSTEMS · TECHNICAL 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Real-Time Acquisition Constraints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Embedded Vision Systems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analysis using system-level timing, bandwidth, and pipeline models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50292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Interface   </a:t>
            </a:r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Timing   </a:t>
            </a:r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Modeling   </a:t>
            </a:r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Acquisition Timing Is the First Constraint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vision systems must capture, move, and process image data before the physical process outpaces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DAF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1920240"/>
            <a:ext cx="768096" cy="768096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/home/claude/ppt/icon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08483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346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Platforms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429000"/>
            <a:ext cx="22037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frames translate directly into blind intervals for obstacle and lane detection at speed.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DAF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9684" y="1920240"/>
            <a:ext cx="768096" cy="768096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1" name="Image 1" descr="/home/claude/ppt/icon_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08483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8346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Inspection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429000"/>
            <a:ext cx="22037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speed fixes the acquisition window; a late frame means a missed defect on a moving part.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DAF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1756" y="1920240"/>
            <a:ext cx="768096" cy="768096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6" name="Image 2" descr="/home/claude/ppt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208483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28346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&amp; Drones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3952" y="3429000"/>
            <a:ext cx="22037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control needs bounded, predictable frame latency, not just a high average frame rate.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9DAF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3828" y="1920240"/>
            <a:ext cx="768096" cy="768096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21" name="Image 3" descr="/home/claude/ppt/icon_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08483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283464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&amp; Safety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36024" y="3429000"/>
            <a:ext cx="22037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detection depends on sustained throughput without dropped or jittered frames over long runs.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Model of the Acquisition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adds delay and consumes a shared bus — the model must capture both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82396" y="2331720"/>
            <a:ext cx="1828800" cy="1600200"/>
          </a:xfrm>
          <a:prstGeom prst="roundRect">
            <a:avLst>
              <a:gd name="adj" fmla="val 5143"/>
            </a:avLst>
          </a:prstGeom>
          <a:solidFill>
            <a:srgbClr val="1B4965"/>
          </a:solidFill>
          <a:ln/>
        </p:spPr>
      </p:sp>
      <p:pic>
        <p:nvPicPr>
          <p:cNvPr id="5" name="Image 0" descr="/home/claude/ppt/icon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496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548" y="295351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Sensor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55548" y="331927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+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readout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11196" y="3131820"/>
            <a:ext cx="320040" cy="0"/>
          </a:xfrm>
          <a:prstGeom prst="line">
            <a:avLst/>
          </a:prstGeom>
          <a:noFill/>
          <a:ln w="28575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031236" y="2331720"/>
            <a:ext cx="1828800" cy="1600200"/>
          </a:xfrm>
          <a:prstGeom prst="roundRect">
            <a:avLst>
              <a:gd name="adj" fmla="val 5143"/>
            </a:avLst>
          </a:prstGeom>
          <a:solidFill>
            <a:srgbClr val="1B4965"/>
          </a:solidFill>
          <a:ln/>
        </p:spPr>
      </p:sp>
      <p:pic>
        <p:nvPicPr>
          <p:cNvPr id="10" name="Image 1" descr="/home/claude/ppt/icon_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24963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4388" y="295351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 / Front-End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104388" y="331927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Demosaic,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gain, format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60036" y="3131820"/>
            <a:ext cx="320040" cy="0"/>
          </a:xfrm>
          <a:prstGeom prst="line">
            <a:avLst/>
          </a:prstGeom>
          <a:noFill/>
          <a:ln w="28575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180076" y="2331720"/>
            <a:ext cx="1828800" cy="1600200"/>
          </a:xfrm>
          <a:prstGeom prst="roundRect">
            <a:avLst>
              <a:gd name="adj" fmla="val 5143"/>
            </a:avLst>
          </a:prstGeom>
          <a:solidFill>
            <a:srgbClr val="1B4965"/>
          </a:solidFill>
          <a:ln/>
        </p:spPr>
      </p:sp>
      <p:pic>
        <p:nvPicPr>
          <p:cNvPr id="15" name="Image 2" descr="/home/claude/ppt/icon_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24963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3228" y="295351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Interconnect / DMA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53228" y="331927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MIPI, PCIe,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bus transfer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008876" y="3131820"/>
            <a:ext cx="320040" cy="0"/>
          </a:xfrm>
          <a:prstGeom prst="line">
            <a:avLst/>
          </a:prstGeom>
          <a:noFill/>
          <a:ln w="28575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28916" y="2331720"/>
            <a:ext cx="1828800" cy="1600200"/>
          </a:xfrm>
          <a:prstGeom prst="roundRect">
            <a:avLst>
              <a:gd name="adj" fmla="val 5143"/>
            </a:avLst>
          </a:prstGeom>
          <a:solidFill>
            <a:srgbClr val="1B4965"/>
          </a:solidFill>
          <a:ln/>
        </p:spPr>
      </p:sp>
      <p:pic>
        <p:nvPicPr>
          <p:cNvPr id="20" name="Image 3" descr="/home/claude/ppt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48" y="24963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2068" y="295351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Buffer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02068" y="331927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/ SRAM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157716" y="3131820"/>
            <a:ext cx="320040" cy="0"/>
          </a:xfrm>
          <a:prstGeom prst="line">
            <a:avLst/>
          </a:prstGeom>
          <a:noFill/>
          <a:ln w="28575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9477756" y="2331720"/>
            <a:ext cx="1828800" cy="1600200"/>
          </a:xfrm>
          <a:prstGeom prst="roundRect">
            <a:avLst>
              <a:gd name="adj" fmla="val 5143"/>
            </a:avLst>
          </a:prstGeom>
          <a:solidFill>
            <a:srgbClr val="0088A8"/>
          </a:solidFill>
          <a:ln/>
        </p:spPr>
      </p:sp>
      <p:pic>
        <p:nvPicPr>
          <p:cNvPr id="25" name="Image 4" descr="/home/claude/ppt/icon_mem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988" y="24963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50908" y="295351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Processor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550908" y="3319272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GPU / NPU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82396" y="4343400"/>
            <a:ext cx="10424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156716" y="448056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constraint: each stage has a service time and a buffer depth. The model treats the path as a queue chain — an increase in any stage’s latency or a stall in the interconnect propagates downstream and can violate the frame deadline before processing even begins.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Classes of Real-Time Constraint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explanation requires separating what is bounded from what is merely fast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84248"/>
            <a:ext cx="658368" cy="658368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/home/claude/ppt/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30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photon capture to a usable frame at the processing stage. Bounds reaction time in closed-loop systems.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84248"/>
            <a:ext cx="658368" cy="658368"/>
          </a:xfrm>
          <a:prstGeom prst="ellipse">
            <a:avLst/>
          </a:prstGeom>
          <a:solidFill>
            <a:srgbClr val="0088A8"/>
          </a:solidFill>
          <a:ln/>
        </p:spPr>
      </p:sp>
      <p:pic>
        <p:nvPicPr>
          <p:cNvPr id="11" name="Image 1" descr="/home/claude/ppt/icon_tachome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305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0" y="23500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data rate the pipeline must move — sensor output bytes/sec must not exceed bus and memory bandwidth.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33088"/>
            <a:ext cx="658368" cy="658368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6" name="Image 2" descr="/home/claude/ppt/icon_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79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Jitter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4498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Frame-to-frame variation in arrival time. Low average latency is meaningless if individual frames vary widely.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133088"/>
            <a:ext cx="658368" cy="658368"/>
          </a:xfrm>
          <a:prstGeom prst="ellipse">
            <a:avLst/>
          </a:prstGeom>
          <a:solidFill>
            <a:srgbClr val="0088A8"/>
          </a:solidFill>
          <a:ln/>
        </p:spPr>
      </p:sp>
      <p:pic>
        <p:nvPicPr>
          <p:cNvPr id="21" name="Image 3" descr="/home/claude/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27939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15200" y="4498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that worst-case timing, not just average timing, stays inside the deadline for every acquired frame.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Frame Acquisition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period is a sum of sequential, measurable component delays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Period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T_frame = T_exp + T_read + T_xfer + T_proc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T_exp 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exposure time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T_read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row-by-row readout time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T_xfer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interconnect transfer time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T_proc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 / inference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4315968"/>
            <a:ext cx="4480560" cy="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434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constraint:  T_frame  ≤  1 / f_required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280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real-time only if the worst-case sum stays under the deadline set by the required frame rate — not the average case.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Breakdown of One Frame Period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89320" y="2331720"/>
            <a:ext cx="1700784" cy="822960"/>
          </a:xfrm>
          <a:prstGeom prst="rect">
            <a:avLst/>
          </a:prstGeom>
          <a:solidFill>
            <a:srgbClr val="1B49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578608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T_exp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90104" y="2331720"/>
            <a:ext cx="1247242" cy="822960"/>
          </a:xfrm>
          <a:prstGeom prst="rect">
            <a:avLst/>
          </a:prstGeom>
          <a:solidFill>
            <a:srgbClr val="0088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0104" y="2578608"/>
            <a:ext cx="12472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T_read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7346" y="2331720"/>
            <a:ext cx="907085" cy="822960"/>
          </a:xfrm>
          <a:prstGeom prst="rect">
            <a:avLst/>
          </a:prstGeom>
          <a:solidFill>
            <a:srgbClr val="3A7C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7346" y="2578608"/>
            <a:ext cx="90708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T_xfer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44430" y="2331720"/>
            <a:ext cx="1814170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44430" y="2578608"/>
            <a:ext cx="18141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T_proc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246120"/>
            <a:ext cx="5669280" cy="0"/>
          </a:xfrm>
          <a:prstGeom prst="line">
            <a:avLst/>
          </a:prstGeom>
          <a:noFill/>
          <a:ln w="15875">
            <a:solidFill>
              <a:srgbClr val="1B263B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989320" y="33558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T_frame  (must fit inside 1 / f_required)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97764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reading of the model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63640" y="4462272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and readout are sensor-fixed; they set a lower bound the rest of the system cannot recover from.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and processing are shared resources — contention here is where deadlines are usually missed.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 Grows Faster Than It Looks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rate D = Width × Height × bits-per-pixel × frame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0" cy="41605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Data-Rate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W × H × bpp × fps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width / height (px)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bpp 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 encoded per pixel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fps 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frame rate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sustained bus load (bit/s)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56616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provisioned bus and memory bandwidth must exceed D with margin for refresh, arbitration, and burst overhead — not just match the average.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Sustained Bandwidth by Sensor Configuration (Mbit/s, 8bpp)</a:t>
            </a:r>
            <a:endParaRPr lang="en-US" sz="13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205740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Worst-Case Pipeline Latency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are set by the worst path through the pipeline, not the average 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Pipelined Stage Timing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2432304"/>
            <a:ext cx="4846320" cy="347472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432304"/>
            <a:ext cx="3338576" cy="3474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5514848" y="23957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03120" y="2999232"/>
            <a:ext cx="4846320" cy="347472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2999232"/>
            <a:ext cx="1507744" cy="347472"/>
          </a:xfrm>
          <a:prstGeom prst="rect">
            <a:avLst/>
          </a:prstGeom>
          <a:solidFill>
            <a:srgbClr val="0088A8"/>
          </a:solidFill>
          <a:ln/>
        </p:spPr>
      </p:sp>
      <p:sp>
        <p:nvSpPr>
          <p:cNvPr id="13" name="Text 11"/>
          <p:cNvSpPr/>
          <p:nvPr/>
        </p:nvSpPr>
        <p:spPr>
          <a:xfrm>
            <a:off x="3684016" y="296265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 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51129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03120" y="3566160"/>
            <a:ext cx="4846320" cy="347472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6" name="Shape 14"/>
          <p:cNvSpPr/>
          <p:nvPr/>
        </p:nvSpPr>
        <p:spPr>
          <a:xfrm>
            <a:off x="2103120" y="3566160"/>
            <a:ext cx="2423160" cy="347472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35295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07822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03120" y="4133088"/>
            <a:ext cx="4846320" cy="347472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3120" y="4133088"/>
            <a:ext cx="484632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7022592" y="40965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6451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03120" y="4700016"/>
            <a:ext cx="4846320" cy="347472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03120" y="4700016"/>
            <a:ext cx="1076960" cy="347472"/>
          </a:xfrm>
          <a:prstGeom prst="rect">
            <a:avLst/>
          </a:prstGeom>
          <a:solidFill>
            <a:srgbClr val="5A8FB0"/>
          </a:solidFill>
          <a:ln/>
        </p:spPr>
      </p:sp>
      <p:sp>
        <p:nvSpPr>
          <p:cNvPr id="25" name="Text 23"/>
          <p:cNvSpPr/>
          <p:nvPr/>
        </p:nvSpPr>
        <p:spPr>
          <a:xfrm>
            <a:off x="3253232" y="466344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321808"/>
            <a:ext cx="6400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3153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WCET_total = Σ WCET_stage  =  2.45 ms  →  bounds max sustainable rate to ~408 fps per single stream lane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35240" y="169164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Buffering Absorbs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Stage-Rate Mismatch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9560" y="2834640"/>
            <a:ext cx="3474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 or triple-buffer between capture and inference to decouple sensor jitter from compute jitter.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depth must cover the worst observed stage-time variance, not just the mean difference.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buffering trades latency for stability — every added frame of buffer adds one frame period of delay.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Comparison Under the Same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model to three common embedded vision targets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2697480"/>
                <a:gridCol w="2697480"/>
                <a:gridCol w="269748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+ CMOS Sensor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SBC (GPU-assisted)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Front-End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sustained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60–120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8–20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bandwidth headroom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(RTOS-dependent)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(OS scheduling)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(hardware clocked)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Determinism guarantee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envelope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Resolution, Rate, and Power Pull in Different Directions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model exposes trade-offs before they become field failures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21792" cy="621792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/home/claude/ppt/icon_exp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889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↑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spatial detail increases D linearly and lengthens T_read and T_proc — pushes T_frame toward the deadline.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11680"/>
            <a:ext cx="621792" cy="621792"/>
          </a:xfrm>
          <a:prstGeom prst="ellipse">
            <a:avLst/>
          </a:prstGeom>
          <a:solidFill>
            <a:srgbClr val="0088A8"/>
          </a:solidFill>
          <a:ln/>
        </p:spPr>
      </p:sp>
      <p:pic>
        <p:nvPicPr>
          <p:cNvPr id="11" name="Image 1" descr="/home/claude/ppt/icon_tachome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488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889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Rate ↑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99432" y="320040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fps tightens 1/f_required, shrinking the margin every downstream stage must fit inside.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9DAF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011680"/>
            <a:ext cx="621792" cy="62179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6" name="Image 2" descr="/home/claude/ppt/icon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488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7889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Budget ↓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94192" y="320040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 caps clock speed and parallelism, directly increasing T_proc and WCET.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864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principle: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22960" y="5193792"/>
            <a:ext cx="10561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axis can be optimized in isolation. The acquisition model is used to find the feasible region where T_frame stays under the deadline for the chosen resolution, rate, and power point — then the platform is picked to fit that region, per Slide 8.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54887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502920" cy="411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81912"/>
            <a:ext cx="365760" cy="365760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acquisition as a queue chain: sensor, interconnect, and compute stages each add latency and share bandwidth.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against worst-case timing (WCET), not the average frame period — determinism is the binding constraint.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64408"/>
            <a:ext cx="365760" cy="365760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191256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required bandwidth explicitly with D = W × H × bpp × fps and provision margin above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05656"/>
            <a:ext cx="365760" cy="365760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032504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buffering deliberately: it trades added latency for absorbed jitter between mismatched stage rates.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946904"/>
            <a:ext cx="365760" cy="365760"/>
          </a:xfrm>
          <a:prstGeom prst="ellipse">
            <a:avLst/>
          </a:prstGeom>
          <a:solidFill>
            <a:srgbClr val="0088A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46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87375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frame rate, and power form one coupled trade-off space — fix two, and the model bounds the third.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Acquisition Constraints in Embedded Vision Systems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4887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2026-08-03T08:22:39Z</dcterms:created>
  <dcterms:modified xsi:type="dcterms:W3CDTF">2026-08-03T08:22:39Z</dcterms:modified>
</cp:coreProperties>
</file>